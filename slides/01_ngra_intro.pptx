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  <p:sldMasterId id="2147483692" r:id="rId3"/>
    <p:sldMasterId id="2147483708" r:id="rId4"/>
    <p:sldMasterId id="2147483726" r:id="rId5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08613D-5E17-1140-AE91-360A642B79DF}" type="datetimeFigureOut">
              <a:rPr lang="nl-NL" smtClean="0"/>
              <a:t>27-06-2026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F1636-5C82-554C-9FF9-449D6F30EC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854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(Next-Generation Chemical Risk Assessment):\nSet the scope: this section explains why the practical uses QSAR and how its output contributes to a safety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(Where we are going):\nConnect the four lesson phases to the learning outcomes. The practical is one evidence-generating step, not the whole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(Risk assessment starts with a decision):\nAsk students for one realistic use scenario. Reuse it on later slides to show why hazard predictions alone are insufficient.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(Hazard is not the same as risk):\nUse a familiar example to separate intrinsic hazardous properties from the probability of harm under a specific exposure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(REACH provides the regulatory context):\nCorrect a likely misconception in the lesson plan: REACH does not simply mandate a fully animal-free NGRA workflow. Explain accepted information requirements and adaptations.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(Traditional chemical risk assessment):\nWalk through the four stages. Note that real regulatory frameworks differ, but the decomposition is useful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(Why change the evidence base?):\nAvoid presenting all animal evidence as invalid. The motivation is to improve human relevance, throughput, mechanism and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(The NGRA shift):\nPresent these as core design principles. Explain that 'next generation' describes the assessment strategy and evidence integration, not a single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(A practical NGRA workflow):\nStress iteration: evidence may refine the hypothesis, exposure estimate or data needs. This is not a one-way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(NAMs are a toolbox, not one test):\nLocate the notebooks explicitly in the in-silico column. QSAR predicts a defined endpoint; it does not perform an entire risk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(AOPs organise mechanistic evidence):\nGive one simple verbal example. Distinguish an AOP from a complete biological pathway and from a predictive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(From external exposure to internal dose):\nKeep the distinction clear: PBK describes kinetics; QIVIVE uses kinetic modelling to translate between in-vitro concentrations and external doses.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(Points of departure anchor dose-response):\nIntroduce BMD or EC10 conceptually. Avoid saying that NGRA always replaces every NOAEL or default factor; practices and contexts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(Uncertainty must be made visible):\nUse the notebook dataset as an example: ambiguous labels, duplicates, class balance and chemical coverage all affect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(Evidence integration is a reasoned argument):\nSet up the practical discussion: a QSAR and an in-vitro result can conflict. Students should investigate data, domain, endpoint and mechanism before deciding.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(Case study: predicting genotoxicity):\nIntroduce the practical question. Make clear that the notebook focuses on hazard prediction and model interpretation rather than completing a full NGRA.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Teaching note (Bridge to Lab 1):\nTransition directly to notebooks/01_lab1_local.ipynb. The neural-network section is instructor-led; the data and fingerprint workflow is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4B98-F7F7-EB06-5618-023675A13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3CEE4-38CA-D4A8-F4CD-848A48A43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C5565-9604-2205-F5A1-B56DC697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E39B-1622-8B67-1868-A74ACAF5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AInTox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C1BAF-184B-5C06-3F94-4FBE1D7FF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3332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348F-E0C3-F297-D461-E913DFF6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02A48-8D72-BD10-0F2F-4B0539CB2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C90E8-7BF7-3E54-3725-9DC1EF78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15D39-4920-1B1E-44EB-84BF026C7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AInTox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823F9-F698-61BD-BF9D-CC07C1BF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620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4BADD-CF11-4A59-27F5-24B99B6DE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95D0E-407C-52E2-AB60-3EBE8C6E3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956DF-258B-39E3-665F-4AE8A3583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5C199-7601-B081-0168-45DBB25D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AInTox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517F7-CE45-B4A1-3FBD-F09A8BEB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832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0D73-D736-BC4C-0B81-D8CBB530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EADE4-4634-7E07-0359-A2B6C6450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183FE-5AE6-104B-F198-F754A13AF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8D44F-982E-3C2F-C219-43C75186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81D27-8059-9F85-F1B2-CEBF731DF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AInTox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74E4E-B9AF-FDD3-2DC8-85F4ADB7C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043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B11E-D531-36B7-4D84-C5872385B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69813-C46E-E061-478E-4C6E18A9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CB648-DBFF-6084-41A9-83902E89E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E5E775-C1BC-3A8A-BAEF-D4DDFDB4F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9BF9C-592F-9863-CE0A-207B7135A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213D6-CD10-170B-C13C-A6994775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DEAD82-85F3-F6BD-3209-4BE6BAE5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AInTox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05DAE-A041-31F4-0B1F-1C19CEF9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922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CC0F-EB6B-4EF0-3DB9-4E87F956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BCF39-9F0D-462A-BE46-FCFC37CE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35052-6107-D59A-63CE-D1BCC756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AInTox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EE0F9-60B2-436C-ED62-305D0AA9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5774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A522EB-7FFB-BA85-C01F-F8E16D06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8750C-B229-DBE4-649D-F6A33DC1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AInTox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7E380-C7CC-A5AA-E44B-651D6E19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0862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57A8-1AEE-89B7-BCDD-62424D980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579D5-436A-AE98-4C7F-94EC3CEEA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4192E-88AE-C57D-E0BD-8CF8374F1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BD5A1-637B-B3C6-A074-FF22E502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7396E-309B-AB20-EF1C-5B59ABB6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AInTox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D8505-019A-404F-16C3-A19B05B7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85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F1E6-C355-A5C7-05AF-54D70CE04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3EC8F-ED98-9451-DD63-08F2D9E1E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1FE6C-CDBF-1F79-AC2F-7B951A859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E4170-8C02-184F-5AD3-E350059B5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F7F89-B42F-6CF7-7D59-BCBF1063D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AInTox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C150D-860E-B2ED-302F-4A305988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8327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1823-2AC8-EDEB-70A9-9AE308336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5FF6B-92B6-3AD7-54BF-963FA33E7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D8101-8C69-0440-3F5C-0E615426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0E4E0-D45A-BE9A-8542-C9B1076C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AInTox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CCFB5-F912-4E73-40D6-6540EFA8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711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78C751-BAA8-0F3C-1DC3-6CA4CC8CCA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92D6E-1301-7393-5E09-5839397AD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CC1EB-DC11-2A63-3274-9CD870E9E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DF69E-880F-2607-8AC6-AC1A7990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AInTox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B60F5-F790-ED13-C15C-BC11C131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1928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9843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3827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9959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5325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3311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7478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11813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70189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733961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92685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4574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44816" y="6120000"/>
            <a:ext cx="4739216" cy="431900"/>
          </a:xfrm>
        </p:spPr>
        <p:txBody>
          <a:bodyPr anchor="b" anchorCtr="0">
            <a:noAutofit/>
          </a:bodyPr>
          <a:lstStyle>
            <a:lvl1pPr>
              <a:lnSpc>
                <a:spcPts val="1400"/>
              </a:lnSpc>
              <a:spcAft>
                <a:spcPts val="0"/>
              </a:spcAft>
              <a:defRPr sz="1050"/>
            </a:lvl1pPr>
          </a:lstStyle>
          <a:p>
            <a:pPr lvl="0"/>
            <a:r>
              <a:rPr lang="en-US" dirty="0"/>
              <a:t>Enter footnote or delete</a:t>
            </a:r>
          </a:p>
        </p:txBody>
      </p:sp>
    </p:spTree>
    <p:extLst>
      <p:ext uri="{BB962C8B-B14F-4D97-AF65-F5344CB8AC3E}">
        <p14:creationId xmlns:p14="http://schemas.microsoft.com/office/powerpoint/2010/main" val="21650970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kst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8018" y="188914"/>
            <a:ext cx="9984316" cy="1095375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1488018" y="1420813"/>
            <a:ext cx="4889500" cy="4024312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80717" y="1420813"/>
            <a:ext cx="4891616" cy="4024312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26/27 Feb. 2025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AInTox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D682E-DD25-42F3-8B23-EF3E23DE1F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550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018" y="188914"/>
            <a:ext cx="9984316" cy="10953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488018" y="1420813"/>
            <a:ext cx="4889500" cy="4024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580717" y="1420813"/>
            <a:ext cx="4891616" cy="1935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580717" y="3508375"/>
            <a:ext cx="4891616" cy="1936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03684" y="6269039"/>
            <a:ext cx="2351616" cy="2555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26/27 Feb. 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644652" y="6269039"/>
            <a:ext cx="6659033" cy="2555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AInTox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0805585" y="6269039"/>
            <a:ext cx="764116" cy="2555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C018E-07C8-4EC3-A2DC-3B84C3148D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632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0964A6-B860-49EB-AD11-0C89AEA8B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2630"/>
            <a:ext cx="10515600" cy="556546"/>
          </a:xfrm>
        </p:spPr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r>
              <a:rPr lang="en-US" dirty="0"/>
              <a:t>Click to edit the title master style
</a:t>
            </a:r>
            <a:endParaRPr lang="sk-SK" dirty="0"/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223E4EEA-DC91-408F-A44E-0F6A2FA84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CF4B8-FD15-4FC4-80D3-C9F53E2BB922}" type="slidenum">
              <a:rPr lang="sk-SK" smtClean="0"/>
              <a:pPr/>
              <a:t>‹#›</a:t>
            </a:fld>
            <a:endParaRPr lang="sk-SK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6CCEC5F-5DA1-4CC7-93C9-E1C8AF2B71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419225"/>
            <a:ext cx="10515600" cy="4352925"/>
          </a:xfrm>
        </p:spPr>
        <p:txBody>
          <a:bodyPr/>
          <a:lstStyle>
            <a:lvl1pPr>
              <a:buNone/>
              <a:defRPr/>
            </a:lvl1pPr>
            <a:lvl2pPr>
              <a:defRPr>
                <a:solidFill>
                  <a:srgbClr val="003399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 dirty="0"/>
              <a:t>Title 1</a:t>
            </a:r>
            <a:endParaRPr lang="sk-SK" dirty="0"/>
          </a:p>
          <a:p>
            <a:pPr lvl="1"/>
            <a:r>
              <a:rPr lang="en-US" dirty="0"/>
              <a:t>Subtitle</a:t>
            </a:r>
            <a:endParaRPr lang="sk-SK" dirty="0"/>
          </a:p>
          <a:p>
            <a:pPr lvl="2"/>
            <a:r>
              <a:rPr lang="sk-SK" dirty="0"/>
              <a:t>T</a:t>
            </a:r>
            <a:r>
              <a:rPr lang="en-US" dirty="0"/>
              <a:t>ext</a:t>
            </a:r>
          </a:p>
          <a:p>
            <a:pPr lvl="2"/>
            <a:r>
              <a:rPr lang="en-US" dirty="0"/>
              <a:t>Text </a:t>
            </a:r>
          </a:p>
          <a:p>
            <a:pPr lvl="2"/>
            <a:r>
              <a:rPr lang="en-US" dirty="0"/>
              <a:t>Text</a:t>
            </a:r>
          </a:p>
          <a:p>
            <a:pPr lvl="2"/>
            <a:endParaRPr lang="en-US" dirty="0"/>
          </a:p>
          <a:p>
            <a:pPr lvl="0"/>
            <a:r>
              <a:rPr lang="en-US" dirty="0"/>
              <a:t>Title 2</a:t>
            </a:r>
          </a:p>
          <a:p>
            <a:pPr lvl="1"/>
            <a:r>
              <a:rPr lang="en-US" dirty="0"/>
              <a:t>Subtitle</a:t>
            </a:r>
            <a:endParaRPr lang="sk-SK" dirty="0"/>
          </a:p>
          <a:p>
            <a:pPr lvl="2"/>
            <a:r>
              <a:rPr lang="sk-SK" dirty="0"/>
              <a:t>T</a:t>
            </a:r>
            <a:r>
              <a:rPr lang="en-US" dirty="0"/>
              <a:t>ext</a:t>
            </a:r>
          </a:p>
          <a:p>
            <a:pPr lvl="2"/>
            <a:r>
              <a:rPr lang="en-US" dirty="0"/>
              <a:t>Text </a:t>
            </a:r>
          </a:p>
          <a:p>
            <a:pPr lvl="2"/>
            <a:r>
              <a:rPr lang="en-US" dirty="0"/>
              <a:t>Text</a:t>
            </a:r>
          </a:p>
          <a:p>
            <a:pPr lvl="0"/>
            <a:endParaRPr lang="sk-SK" dirty="0"/>
          </a:p>
          <a:p>
            <a:pPr lvl="2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1566793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nl" smtClean="0"/>
              <a:pPr/>
              <a:t>‹#›</a:t>
            </a:fld>
            <a:endParaRPr lang="nl"/>
          </a:p>
        </p:txBody>
      </p:sp>
    </p:spTree>
    <p:extLst>
      <p:ext uri="{BB962C8B-B14F-4D97-AF65-F5344CB8AC3E}">
        <p14:creationId xmlns:p14="http://schemas.microsoft.com/office/powerpoint/2010/main" val="32697225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26/27 Feb. 2025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CDF30BB-008A-4FEA-A62D-ED471A57003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AInTox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382448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Samenvat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nl-NL" noProof="0"/>
              <a:t>Klik om stijl te bewerken</a:t>
            </a:r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nl-NL" noProof="0" dirty="0"/>
              <a:t>Klik op het pictogram als u een afbeelding wilt toevoegen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nl-NL" noProof="0" dirty="0"/>
              <a:t>dinsdag 2 februari 20XX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nl-NL" noProof="0" dirty="0"/>
              <a:t>Voorbeeld van voettekst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498496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26/27 Feb. 2025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AInTox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16258-74BE-4D63-8C77-A3060CB53A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04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8312453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9485725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5037194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9023975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514433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0377238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2783539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7261184"/>
      </p:ext>
    </p:extLst>
  </p:cSld>
  <p:clrMapOvr>
    <a:masterClrMapping/>
  </p:clrMapOvr>
  <p:hf hd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7495959"/>
      </p:ext>
    </p:extLst>
  </p:cSld>
  <p:clrMapOvr>
    <a:masterClrMapping/>
  </p:clrMapOvr>
  <p:hf hd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0251263"/>
      </p:ext>
    </p:extLst>
  </p:cSld>
  <p:clrMapOvr>
    <a:masterClrMapping/>
  </p:clrMapOvr>
  <p:hf hd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AInTox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5022436"/>
      </p:ext>
    </p:extLst>
  </p:cSld>
  <p:clrMapOvr>
    <a:masterClrMapping/>
  </p:clrMapOvr>
  <p:hf hd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26/27 Feb. 2025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CDF30BB-008A-4FEA-A62D-ED471A57003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AInTox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8131027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Samenvat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nl-NL" noProof="0"/>
              <a:t>Klik om stijl te bewerken</a:t>
            </a:r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nl-NL" noProof="0" dirty="0"/>
              <a:t>Klik op het pictogram als u een afbeelding wilt toevoegen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nl-NL" noProof="0" dirty="0"/>
              <a:t>dinsdag 2 februari 20XX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nl-NL" noProof="0" dirty="0"/>
              <a:t>Voorbeeld van voettekst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0433087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0964A6-B860-49EB-AD11-0C89AEA8B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2630"/>
            <a:ext cx="10515600" cy="556546"/>
          </a:xfrm>
        </p:spPr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r>
              <a:rPr lang="en-US" dirty="0"/>
              <a:t>Click to edit the title master style
</a:t>
            </a:r>
            <a:endParaRPr lang="sk-SK" dirty="0"/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223E4EEA-DC91-408F-A44E-0F6A2FA84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CF4B8-FD15-4FC4-80D3-C9F53E2BB922}" type="slidenum">
              <a:rPr lang="sk-SK" smtClean="0"/>
              <a:pPr/>
              <a:t>‹#›</a:t>
            </a:fld>
            <a:endParaRPr lang="sk-SK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6CCEC5F-5DA1-4CC7-93C9-E1C8AF2B71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419225"/>
            <a:ext cx="10515600" cy="4352925"/>
          </a:xfrm>
        </p:spPr>
        <p:txBody>
          <a:bodyPr/>
          <a:lstStyle>
            <a:lvl1pPr>
              <a:buNone/>
              <a:defRPr/>
            </a:lvl1pPr>
            <a:lvl2pPr>
              <a:defRPr>
                <a:solidFill>
                  <a:srgbClr val="003399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 dirty="0"/>
              <a:t>Title 1</a:t>
            </a:r>
            <a:endParaRPr lang="sk-SK" dirty="0"/>
          </a:p>
          <a:p>
            <a:pPr lvl="1"/>
            <a:r>
              <a:rPr lang="en-US" dirty="0"/>
              <a:t>Subtitle</a:t>
            </a:r>
            <a:endParaRPr lang="sk-SK" dirty="0"/>
          </a:p>
          <a:p>
            <a:pPr lvl="2"/>
            <a:r>
              <a:rPr lang="sk-SK" dirty="0"/>
              <a:t>T</a:t>
            </a:r>
            <a:r>
              <a:rPr lang="en-US" dirty="0"/>
              <a:t>ext</a:t>
            </a:r>
          </a:p>
          <a:p>
            <a:pPr lvl="2"/>
            <a:r>
              <a:rPr lang="en-US" dirty="0"/>
              <a:t>Text </a:t>
            </a:r>
          </a:p>
          <a:p>
            <a:pPr lvl="2"/>
            <a:r>
              <a:rPr lang="en-US" dirty="0"/>
              <a:t>Text</a:t>
            </a:r>
          </a:p>
          <a:p>
            <a:pPr lvl="2"/>
            <a:endParaRPr lang="en-US" dirty="0"/>
          </a:p>
          <a:p>
            <a:pPr lvl="0"/>
            <a:r>
              <a:rPr lang="en-US" dirty="0"/>
              <a:t>Title 2</a:t>
            </a:r>
          </a:p>
          <a:p>
            <a:pPr lvl="1"/>
            <a:r>
              <a:rPr lang="en-US" dirty="0"/>
              <a:t>Subtitle</a:t>
            </a:r>
            <a:endParaRPr lang="sk-SK" dirty="0"/>
          </a:p>
          <a:p>
            <a:pPr lvl="2"/>
            <a:r>
              <a:rPr lang="sk-SK" dirty="0"/>
              <a:t>T</a:t>
            </a:r>
            <a:r>
              <a:rPr lang="en-US" dirty="0"/>
              <a:t>ext</a:t>
            </a:r>
          </a:p>
          <a:p>
            <a:pPr lvl="2"/>
            <a:r>
              <a:rPr lang="en-US" dirty="0"/>
              <a:t>Text </a:t>
            </a:r>
          </a:p>
          <a:p>
            <a:pPr lvl="2"/>
            <a:r>
              <a:rPr lang="en-US" dirty="0"/>
              <a:t>Text</a:t>
            </a:r>
          </a:p>
          <a:p>
            <a:pPr lvl="0"/>
            <a:endParaRPr lang="sk-SK" dirty="0"/>
          </a:p>
          <a:p>
            <a:pPr lvl="2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592743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44816" y="6120000"/>
            <a:ext cx="4739216" cy="431900"/>
          </a:xfrm>
        </p:spPr>
        <p:txBody>
          <a:bodyPr anchor="b" anchorCtr="0">
            <a:noAutofit/>
          </a:bodyPr>
          <a:lstStyle>
            <a:lvl1pPr>
              <a:lnSpc>
                <a:spcPts val="1400"/>
              </a:lnSpc>
              <a:spcAft>
                <a:spcPts val="0"/>
              </a:spcAft>
              <a:defRPr sz="1050"/>
            </a:lvl1pPr>
          </a:lstStyle>
          <a:p>
            <a:pPr lvl="0"/>
            <a:r>
              <a:rPr lang="en-US" dirty="0"/>
              <a:t>Enter footnote or delete</a:t>
            </a:r>
          </a:p>
        </p:txBody>
      </p:sp>
    </p:spTree>
    <p:extLst>
      <p:ext uri="{BB962C8B-B14F-4D97-AF65-F5344CB8AC3E}">
        <p14:creationId xmlns:p14="http://schemas.microsoft.com/office/powerpoint/2010/main" val="24795617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C4C47-14D0-474A-BBC9-601990F22DE7}" type="datetime1">
              <a:rPr lang="nl-NL" smtClean="0"/>
              <a:t>27-06-2026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48589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F5FB-6B6F-43CF-8738-AAC13D9684B1}" type="datetime1">
              <a:rPr lang="nl-NL" smtClean="0"/>
              <a:t>27-06-2026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1365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E4F5-AFEE-497E-A795-36E4B740A3C7}" type="datetime1">
              <a:rPr lang="nl-NL" smtClean="0"/>
              <a:t>27-06-2026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18319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D717-E0B5-461F-810A-54BB0598CFA4}" type="datetime1">
              <a:rPr lang="nl-NL" smtClean="0"/>
              <a:t>27-06-2026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75257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2C63-B1DA-4A1E-815C-815BC33175E8}" type="datetime1">
              <a:rPr lang="nl-NL" smtClean="0"/>
              <a:t>27-06-2026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84476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5CBCE-B86F-4535-B01E-359E92ADEC7B}" type="datetime1">
              <a:rPr lang="nl-NL" smtClean="0"/>
              <a:t>27-06-2026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74734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F197-E93C-4834-B8E8-B29FA40F8AC3}" type="datetime1">
              <a:rPr lang="nl-NL" smtClean="0"/>
              <a:t>27-06-2026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47120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7B46-DF1F-471A-934D-17BC11311BB9}" type="datetime1">
              <a:rPr lang="nl-NL" smtClean="0"/>
              <a:t>27-06-2026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42273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28DC6-1861-447E-AB6C-5B4284D7B72C}" type="datetime1">
              <a:rPr lang="nl-NL" smtClean="0"/>
              <a:t>27-06-2026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28022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1409A-B9B0-453C-ACA5-DCE4C1D73A25}" type="datetime1">
              <a:rPr lang="nl-NL" smtClean="0"/>
              <a:t>27-06-2026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47501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274A-0447-4009-A9EC-73200FB1BD13}" type="datetime1">
              <a:rPr lang="nl-NL" smtClean="0"/>
              <a:t>27-06-2026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184697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44816" y="6120000"/>
            <a:ext cx="4739216" cy="431900"/>
          </a:xfrm>
        </p:spPr>
        <p:txBody>
          <a:bodyPr anchor="b" anchorCtr="0">
            <a:noAutofit/>
          </a:bodyPr>
          <a:lstStyle>
            <a:lvl1pPr>
              <a:lnSpc>
                <a:spcPts val="1400"/>
              </a:lnSpc>
              <a:spcAft>
                <a:spcPts val="0"/>
              </a:spcAft>
              <a:defRPr sz="1050"/>
            </a:lvl1pPr>
          </a:lstStyle>
          <a:p>
            <a:pPr lvl="0"/>
            <a:r>
              <a:rPr lang="en-US" dirty="0"/>
              <a:t>Enter footnote or delete</a:t>
            </a:r>
          </a:p>
        </p:txBody>
      </p:sp>
    </p:spTree>
    <p:extLst>
      <p:ext uri="{BB962C8B-B14F-4D97-AF65-F5344CB8AC3E}">
        <p14:creationId xmlns:p14="http://schemas.microsoft.com/office/powerpoint/2010/main" val="156456643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8794E3-8717-48F6-802C-8F3A78B6CE40}" type="datetime1">
              <a:rPr lang="nl-NL" smtClean="0"/>
              <a:t>27-06-2026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Predictive toxicology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16258-74BE-4D63-8C77-A3060CB53A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743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kst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8018" y="188914"/>
            <a:ext cx="9984316" cy="1095375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1488018" y="1420813"/>
            <a:ext cx="4889500" cy="4024312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80717" y="1420813"/>
            <a:ext cx="4891616" cy="4024312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4DD08B-7950-409C-8FA1-711D06E172E4}" type="datetime1">
              <a:rPr lang="nl-NL" smtClean="0"/>
              <a:t>27-06-2026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Predictive toxicology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D682E-DD25-42F3-8B23-EF3E23DE1F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162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018" y="188914"/>
            <a:ext cx="9984316" cy="10953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488018" y="1420813"/>
            <a:ext cx="4889500" cy="4024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580717" y="1420813"/>
            <a:ext cx="4891616" cy="1935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580717" y="3508375"/>
            <a:ext cx="4891616" cy="1936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03684" y="6269039"/>
            <a:ext cx="2351616" cy="2555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2961C7-FB63-415D-B653-AF46FF6CDF5B}" type="datetime1">
              <a:rPr lang="nl-NL" smtClean="0"/>
              <a:t>27-06-2026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644652" y="6269039"/>
            <a:ext cx="6659033" cy="2555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Predictive toxicology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0805585" y="6269039"/>
            <a:ext cx="764116" cy="2555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C018E-07C8-4EC3-A2DC-3B84C3148D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7390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0964A6-B860-49EB-AD11-0C89AEA8B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2630"/>
            <a:ext cx="10515600" cy="556546"/>
          </a:xfrm>
        </p:spPr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r>
              <a:rPr lang="en-US" dirty="0"/>
              <a:t>Click to edit the title master style
</a:t>
            </a:r>
            <a:endParaRPr lang="sk-SK" dirty="0"/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223E4EEA-DC91-408F-A44E-0F6A2FA84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CF4B8-FD15-4FC4-80D3-C9F53E2BB922}" type="slidenum">
              <a:rPr lang="sk-SK" smtClean="0"/>
              <a:pPr/>
              <a:t>‹#›</a:t>
            </a:fld>
            <a:endParaRPr lang="sk-SK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6CCEC5F-5DA1-4CC7-93C9-E1C8AF2B71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419225"/>
            <a:ext cx="10515600" cy="4352925"/>
          </a:xfrm>
        </p:spPr>
        <p:txBody>
          <a:bodyPr/>
          <a:lstStyle>
            <a:lvl1pPr>
              <a:buNone/>
              <a:defRPr/>
            </a:lvl1pPr>
            <a:lvl2pPr>
              <a:defRPr>
                <a:solidFill>
                  <a:srgbClr val="003399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 dirty="0"/>
              <a:t>Title 1</a:t>
            </a:r>
            <a:endParaRPr lang="sk-SK" dirty="0"/>
          </a:p>
          <a:p>
            <a:pPr lvl="1"/>
            <a:r>
              <a:rPr lang="en-US" dirty="0"/>
              <a:t>Subtitle</a:t>
            </a:r>
            <a:endParaRPr lang="sk-SK" dirty="0"/>
          </a:p>
          <a:p>
            <a:pPr lvl="2"/>
            <a:r>
              <a:rPr lang="sk-SK" dirty="0"/>
              <a:t>T</a:t>
            </a:r>
            <a:r>
              <a:rPr lang="en-US" dirty="0"/>
              <a:t>ext</a:t>
            </a:r>
          </a:p>
          <a:p>
            <a:pPr lvl="2"/>
            <a:r>
              <a:rPr lang="en-US" dirty="0"/>
              <a:t>Text </a:t>
            </a:r>
          </a:p>
          <a:p>
            <a:pPr lvl="2"/>
            <a:r>
              <a:rPr lang="en-US" dirty="0"/>
              <a:t>Text</a:t>
            </a:r>
          </a:p>
          <a:p>
            <a:pPr lvl="2"/>
            <a:endParaRPr lang="en-US" dirty="0"/>
          </a:p>
          <a:p>
            <a:pPr lvl="0"/>
            <a:r>
              <a:rPr lang="en-US" dirty="0"/>
              <a:t>Title 2</a:t>
            </a:r>
          </a:p>
          <a:p>
            <a:pPr lvl="1"/>
            <a:r>
              <a:rPr lang="en-US" dirty="0"/>
              <a:t>Subtitle</a:t>
            </a:r>
            <a:endParaRPr lang="sk-SK" dirty="0"/>
          </a:p>
          <a:p>
            <a:pPr lvl="2"/>
            <a:r>
              <a:rPr lang="sk-SK" dirty="0"/>
              <a:t>T</a:t>
            </a:r>
            <a:r>
              <a:rPr lang="en-US" dirty="0"/>
              <a:t>ext</a:t>
            </a:r>
          </a:p>
          <a:p>
            <a:pPr lvl="2"/>
            <a:r>
              <a:rPr lang="en-US" dirty="0"/>
              <a:t>Text </a:t>
            </a:r>
          </a:p>
          <a:p>
            <a:pPr lvl="2"/>
            <a:r>
              <a:rPr lang="en-US" dirty="0"/>
              <a:t>Text</a:t>
            </a:r>
          </a:p>
          <a:p>
            <a:pPr lvl="0"/>
            <a:endParaRPr lang="sk-SK" dirty="0"/>
          </a:p>
          <a:p>
            <a:pPr lvl="2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6604587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1EE0C0-2AC0-6C45-A0B4-8835196DEE18}" type="datetime1">
              <a:rPr lang="en-US" smtClean="0"/>
              <a:t>6/27/26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CDF30BB-008A-4FEA-A62D-ED471A57003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HU powerpoint template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55059993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16475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59399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972352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941005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56567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488123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5852096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0812109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84431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063094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0405099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1219170" lvl="1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/>
          <p:nvPr/>
        </p:nvSpPr>
        <p:spPr>
          <a:xfrm>
            <a:off x="0" y="0"/>
            <a:ext cx="12192000" cy="37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711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9145D-449A-6D82-707B-45459DA51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95511-86CF-DB18-D315-422299640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F522D-D8CB-C81C-4CE2-66C2A0FAF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F6694-21C4-7483-C488-BB50FCF7D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nl-NL"/>
              <a:t>AInTox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D095-015C-56BD-DED9-726C2777B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090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AInTox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975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739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26/27 Feb. 2025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/>
              <a:t>AInTox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A8AC6-727D-D04B-AF18-1C187CFAAF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70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8559A-41B1-4E53-B63E-55BACDAF5FBF}" type="datetime1">
              <a:rPr lang="nl-NL" smtClean="0"/>
              <a:t>27-06-2026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Predictive toxicology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C17D2-13B9-4643-8B86-513E5F8E7A0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763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441552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Next-Generation Chemical Risk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a regulatory question to computational and experimental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-104998"/>
            <a:ext cx="10515600" cy="1325563"/>
          </a:xfrm>
        </p:spPr>
        <p:txBody>
          <a:bodyPr/>
          <a:lstStyle/>
          <a:p>
            <a:r>
              <a:rPr dirty="0"/>
              <a:t>Where we are going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569464" cy="530352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0-30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2569464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Why risk assessment is needed
Traditional risk assessment
Why the field is changing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417320"/>
            <a:ext cx="2569464" cy="530352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30-60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011680"/>
            <a:ext cx="2569464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NGRA workflow
NAMs, AOPs and kinetics
Evidence and uncertainty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417320"/>
            <a:ext cx="2569464" cy="530352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60-100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2011680"/>
            <a:ext cx="2569464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Lab 1: genotoxicity QSAR
Descriptors and predictions
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0264" y="1417320"/>
            <a:ext cx="2569464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100-120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0264" y="2011680"/>
            <a:ext cx="2569464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Weight of evidence
Safety decision
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starts with a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30452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2000" b="1">
                <a:solidFill>
                  <a:srgbClr val="128C88"/>
                </a:solidFill>
                <a:latin typeface="Aptos"/>
              </a:rPr>
              <a:t>Question before data: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303A"/>
                </a:solidFill>
                <a:latin typeface="Aptos"/>
              </a:defRPr>
            </a:pPr>
            <a:r>
              <a:t>•  Who may be exposed, by which route, and for how long?</a:t>
            </a:r>
          </a:p>
          <a:p>
            <a:pPr>
              <a:spcAft>
                <a:spcPts val="1600"/>
              </a:spcAft>
              <a:defRPr sz="2200">
                <a:solidFill>
                  <a:srgbClr val="23303A"/>
                </a:solidFill>
                <a:latin typeface="Aptos"/>
              </a:defRPr>
            </a:pPr>
            <a:r>
              <a:t>•  What adverse effect matters for this use?</a:t>
            </a:r>
          </a:p>
          <a:p>
            <a:pPr>
              <a:spcAft>
                <a:spcPts val="1600"/>
              </a:spcAft>
              <a:defRPr sz="2200">
                <a:solidFill>
                  <a:srgbClr val="23303A"/>
                </a:solidFill>
                <a:latin typeface="Aptos"/>
              </a:defRPr>
            </a:pPr>
            <a:r>
              <a:t>•  What level of evidence is sufficient for the decision?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Context of use determines the evidence you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Hazard is not the same as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93184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54480"/>
            <a:ext cx="3429000" cy="502920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HAZARD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4157" y="2913697"/>
            <a:ext cx="2467149" cy="984885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Can the chemical </a:t>
            </a:r>
            <a:endParaRPr lang="nl-NL" sz="2000" b="1" dirty="0">
              <a:solidFill>
                <a:srgbClr val="23303A"/>
              </a:solidFill>
              <a:latin typeface="Aptos"/>
            </a:endParaRPr>
          </a:p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cause harm?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832" y="1554480"/>
            <a:ext cx="3429000" cy="502920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1" y="2845882"/>
            <a:ext cx="3429001" cy="129266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square" lIns="182880" tIns="182880" rIns="182880" bIns="182880" anchor="ctr">
            <a:spAutoFit/>
          </a:bodyPr>
          <a:lstStyle/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Who encounters </a:t>
            </a:r>
            <a:endParaRPr lang="nl-NL" sz="2000" b="1" dirty="0">
              <a:solidFill>
                <a:srgbClr val="23303A"/>
              </a:solidFill>
              <a:latin typeface="Aptos"/>
            </a:endParaRPr>
          </a:p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how much, how often and by which route?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1" y="1554480"/>
            <a:ext cx="3429000" cy="502920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1936" y="2913697"/>
            <a:ext cx="3281989" cy="984885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How likely is harm under </a:t>
            </a:r>
            <a:endParaRPr lang="nl-NL" sz="2000" b="1" dirty="0">
              <a:solidFill>
                <a:srgbClr val="23303A"/>
              </a:solidFill>
              <a:latin typeface="Aptos"/>
            </a:endParaRPr>
          </a:p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the defined conditions?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28232"/>
            <a:ext cx="996696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7757D"/>
                </a:solidFill>
                <a:latin typeface="Aptos"/>
              </a:rPr>
              <a:t>Sources: WHO Chemical Safety; US EPA, About Risk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REACH provides </a:t>
            </a:r>
            <a:r>
              <a:rPr lang="nl-NL" dirty="0"/>
              <a:t>a</a:t>
            </a:r>
            <a:r>
              <a:rPr dirty="0"/>
              <a:t> regulatory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99032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303A"/>
                </a:solidFill>
                <a:latin typeface="Aptos"/>
              </a:defRPr>
            </a:pPr>
            <a:r>
              <a:t>•  Registration, Evaluation, Authorisation and Restriction of Chemicals</a:t>
            </a:r>
          </a:p>
          <a:p>
            <a:pPr>
              <a:spcAft>
                <a:spcPts val="1600"/>
              </a:spcAft>
              <a:defRPr sz="2200">
                <a:solidFill>
                  <a:srgbClr val="23303A"/>
                </a:solidFill>
                <a:latin typeface="Aptos"/>
              </a:defRPr>
            </a:pPr>
            <a:r>
              <a:t>•  Companies must identify and manage risks and demonstrate safe use</a:t>
            </a:r>
          </a:p>
          <a:p>
            <a:pPr>
              <a:spcAft>
                <a:spcPts val="1600"/>
              </a:spcAft>
              <a:defRPr sz="2200">
                <a:solidFill>
                  <a:srgbClr val="23303A"/>
                </a:solidFill>
                <a:latin typeface="Aptos"/>
              </a:defRPr>
            </a:pPr>
            <a:r>
              <a:t>•  Relevant existing information and non-test methods must be considered</a:t>
            </a:r>
          </a:p>
          <a:p>
            <a:pPr>
              <a:spcAft>
                <a:spcPts val="1600"/>
              </a:spcAft>
              <a:defRPr sz="2200">
                <a:solidFill>
                  <a:srgbClr val="23303A"/>
                </a:solidFill>
                <a:latin typeface="Aptos"/>
              </a:defRPr>
            </a:pPr>
            <a:r>
              <a:t>•  Vertebrate testing is a last resort, not automatically eliminated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REACH promotes alternatives; NGRA is a scientific framework, not a synonym for REACH.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996696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7757D"/>
                </a:solidFill>
                <a:latin typeface="Aptos"/>
              </a:rPr>
              <a:t>Sources: echa.europa.eu/regulations/reach/understanding-reach; ECHA, Alternatives to animal testing under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chemical 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10888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417320"/>
            <a:ext cx="594360" cy="502920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471374"/>
            <a:ext cx="1545680" cy="744819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Hazard </a:t>
            </a:r>
            <a:endParaRPr lang="nl-NL" sz="1700" b="1" dirty="0">
              <a:solidFill>
                <a:srgbClr val="23303A"/>
              </a:solidFill>
              <a:latin typeface="Aptos"/>
            </a:endParaRPr>
          </a:p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3572" y="1417320"/>
            <a:ext cx="594360" cy="502920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3572" y="2471374"/>
            <a:ext cx="1778885" cy="744819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Dose-response </a:t>
            </a:r>
            <a:endParaRPr lang="nl-NL" sz="1700" b="1" dirty="0">
              <a:solidFill>
                <a:srgbClr val="23303A"/>
              </a:solidFill>
              <a:latin typeface="Aptos"/>
            </a:endParaRPr>
          </a:p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94360" cy="502920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471374"/>
            <a:ext cx="1431867" cy="744819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Exposure </a:t>
            </a:r>
            <a:endParaRPr lang="nl-NL" sz="1700" b="1" dirty="0">
              <a:solidFill>
                <a:srgbClr val="23303A"/>
              </a:solidFill>
              <a:latin typeface="Aptos"/>
            </a:endParaRPr>
          </a:p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0828" y="1417320"/>
            <a:ext cx="594360" cy="502920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0828" y="2471374"/>
            <a:ext cx="1855701" cy="744819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Risk </a:t>
            </a:r>
            <a:endParaRPr lang="nl-NL" sz="1700" b="1" dirty="0">
              <a:solidFill>
                <a:srgbClr val="23303A"/>
              </a:solidFill>
              <a:latin typeface="Aptos"/>
            </a:endParaRPr>
          </a:p>
          <a:p>
            <a:pPr algn="l"/>
            <a:r>
              <a:rPr sz="1700" b="1" dirty="0" err="1">
                <a:solidFill>
                  <a:srgbClr val="23303A"/>
                </a:solidFill>
                <a:latin typeface="Aptos"/>
              </a:rPr>
              <a:t>characterisation</a:t>
            </a:r>
            <a:endParaRPr sz="1700" b="1" dirty="0">
              <a:solidFill>
                <a:srgbClr val="23303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Output: a transparent basis for deciding whether and how risk should be managed.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change the evidence base?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20" y="1304828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3493008" cy="530352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Scientific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Species-to-human extrapolation
High-dose to low-dose extrapolation
Limited mechanistic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2544" y="1417320"/>
            <a:ext cx="3493008" cy="530352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Practical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2544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Time and resource intensive
Too many chemicals and uses
Sparse or uneven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417320"/>
            <a:ext cx="3493008" cy="530352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Decision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Default assumptions
Uncertain relevance to a use
Hard-to-integrate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The goal is better decision-relevant evidence, not merely replacing one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NGRA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65760"/>
            <a:ext cx="868680" cy="384048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23-27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54480"/>
            <a:ext cx="3429000" cy="502920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START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48840"/>
            <a:ext cx="3429000" cy="251460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ctr"/>
            <a:r>
              <a:rPr sz="2000" b="1">
                <a:solidFill>
                  <a:srgbClr val="23303A"/>
                </a:solidFill>
                <a:latin typeface="Aptos"/>
              </a:rPr>
              <a:t>A defined decision and exposure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832" y="1554480"/>
            <a:ext cx="3429000" cy="502920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2" y="2148840"/>
            <a:ext cx="3429000" cy="251460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ctr"/>
            <a:r>
              <a:rPr sz="2000" b="1">
                <a:solidFill>
                  <a:srgbClr val="23303A"/>
                </a:solidFill>
                <a:latin typeface="Aptos"/>
              </a:rPr>
              <a:t>A hypothesis about plausible biological effects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1" y="1554480"/>
            <a:ext cx="3429000" cy="502920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2148840"/>
            <a:ext cx="3429000" cy="251460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ctr"/>
            <a:r>
              <a:rPr sz="2000" b="1">
                <a:solidFill>
                  <a:srgbClr val="23303A"/>
                </a:solidFill>
                <a:latin typeface="Aptos"/>
              </a:rPr>
              <a:t>With a tiered, integrated set of human-relevant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Exposure-led, hypothesis-driven and designed to prevent harm.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practical NGRA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65760"/>
            <a:ext cx="868680" cy="384048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27-32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417320"/>
            <a:ext cx="594360" cy="502920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984248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Define decision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3572" y="1417320"/>
            <a:ext cx="594360" cy="502920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3572" y="1984248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Estimate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94360" cy="502920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84248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Gather existing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0828" y="1417320"/>
            <a:ext cx="594360" cy="502920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0828" y="1984248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Form biological 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907792"/>
            <a:ext cx="594360" cy="502920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474720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Generate targeted NAM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3572" y="2907792"/>
            <a:ext cx="594360" cy="502920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3572" y="3474720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Translate dose and integrate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907792"/>
            <a:ext cx="594360" cy="502920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474720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Characterise uncertainty and 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NAMs are a toolbox, not one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20" y="1271016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3493008" cy="530352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In silico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QSAR and read-across
AI and data mining
PBK/PBPK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2544" y="1417320"/>
            <a:ext cx="3493008" cy="530352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In vitro / in chemico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2544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Cell-based assays
Biochemical reactivity
High-throughput screens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417320"/>
            <a:ext cx="3493008" cy="530352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Integrated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AOPs and IATA
Omics and bioinformatics
Weight of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Method fitness depends on the question, endpoint and context of 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28232"/>
            <a:ext cx="996696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7757D"/>
                </a:solidFill>
                <a:latin typeface="Aptos"/>
              </a:rPr>
              <a:t>Source: EFSA, New approach methodologies (NAMs)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AOPs organise mechanistic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12164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417320"/>
            <a:ext cx="594360" cy="502920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984248"/>
            <a:ext cx="3486912" cy="171907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Molecular initiating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6448" y="1417320"/>
            <a:ext cx="594360" cy="502920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6448" y="1984248"/>
            <a:ext cx="3486912" cy="171907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Key biological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7952" y="1417320"/>
            <a:ext cx="594360" cy="502920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7952" y="1984248"/>
            <a:ext cx="3486912" cy="171907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Adverse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An AOP links causally related events; it does not by itself quantify exposure or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28232"/>
            <a:ext cx="996696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7757D"/>
                </a:solidFill>
                <a:latin typeface="Aptos"/>
              </a:rPr>
              <a:t>Source: OECD, Adverse Outcome Pathways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external exposure to internal dose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65760"/>
            <a:ext cx="868680" cy="384048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40-44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54480"/>
            <a:ext cx="3429000" cy="502920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247" y="2913697"/>
            <a:ext cx="3822970" cy="984885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External concentration, </a:t>
            </a:r>
            <a:endParaRPr lang="nl-NL" sz="2000" b="1" dirty="0">
              <a:solidFill>
                <a:srgbClr val="23303A"/>
              </a:solidFill>
              <a:latin typeface="Aptos"/>
            </a:endParaRPr>
          </a:p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route, frequency and 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832" y="1554480"/>
            <a:ext cx="3429000" cy="502920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PBK / PBPK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8165" y="2913697"/>
            <a:ext cx="3414333" cy="984885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Absorption, distribution, </a:t>
            </a:r>
            <a:endParaRPr lang="nl-NL" sz="2000" b="1" dirty="0">
              <a:solidFill>
                <a:srgbClr val="23303A"/>
              </a:solidFill>
              <a:latin typeface="Aptos"/>
            </a:endParaRPr>
          </a:p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metabolism and excretion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1" y="1554480"/>
            <a:ext cx="3429000" cy="502920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QIVIVE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1539" y="2759809"/>
            <a:ext cx="3142783" cy="129266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Relate an in-vitro effect </a:t>
            </a:r>
            <a:endParaRPr lang="nl-NL" sz="2000" b="1" dirty="0">
              <a:solidFill>
                <a:srgbClr val="23303A"/>
              </a:solidFill>
              <a:latin typeface="Aptos"/>
            </a:endParaRPr>
          </a:p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concentration to </a:t>
            </a:r>
            <a:endParaRPr lang="nl-NL" sz="2000" b="1" dirty="0">
              <a:solidFill>
                <a:srgbClr val="23303A"/>
              </a:solidFill>
              <a:latin typeface="Aptos"/>
            </a:endParaRPr>
          </a:p>
          <a:p>
            <a:pPr algn="ctr"/>
            <a:r>
              <a:rPr sz="2000" b="1" dirty="0">
                <a:solidFill>
                  <a:srgbClr val="23303A"/>
                </a:solidFill>
                <a:latin typeface="Aptos"/>
              </a:rPr>
              <a:t>an in-vivo dose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Biological activity becomes decision-relevant only when dose and kinetics are considered.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28232"/>
            <a:ext cx="996696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7757D"/>
                </a:solidFill>
                <a:latin typeface="Aptos"/>
              </a:rPr>
              <a:t>Source: EFSA, New approach methodologies (NAMs)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Points of departure anchor dose-response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368836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303A"/>
                </a:solidFill>
                <a:latin typeface="Aptos"/>
              </a:defRPr>
            </a:pPr>
            <a:r>
              <a:t>•  A PoD is a dose or concentration selected from a dose-response relationship</a:t>
            </a:r>
          </a:p>
          <a:p>
            <a:pPr>
              <a:spcAft>
                <a:spcPts val="1600"/>
              </a:spcAft>
              <a:defRPr sz="2200">
                <a:solidFill>
                  <a:srgbClr val="23303A"/>
                </a:solidFill>
                <a:latin typeface="Aptos"/>
              </a:defRPr>
            </a:pPr>
            <a:r>
              <a:t>•  Possible anchors include a benchmark response or defined effect concentration</a:t>
            </a:r>
          </a:p>
          <a:p>
            <a:pPr>
              <a:spcAft>
                <a:spcPts val="1600"/>
              </a:spcAft>
              <a:defRPr sz="2200">
                <a:solidFill>
                  <a:srgbClr val="23303A"/>
                </a:solidFill>
                <a:latin typeface="Aptos"/>
              </a:defRPr>
            </a:pPr>
            <a:r>
              <a:t>•  The choice must match the endpoint, assay and decision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NGRA can use model-based PoDs; it does not universally prohibit NOAEL-based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Uncertainty must be made 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65760"/>
            <a:ext cx="868680" cy="384048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48-52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4828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3493008" cy="530352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Missing values
Assay variability
Label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2544" y="1417320"/>
            <a:ext cx="3493008" cy="530352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2544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Applicability domain
Model assumptions
Prediction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417320"/>
            <a:ext cx="3493008" cy="530352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Translation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In vitro to human
Population variability
Exposure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Confidence is conditional: prediction + applicability + uncertainty.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integration is a reasoned argument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65760"/>
            <a:ext cx="868680" cy="384048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52-56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10888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417320"/>
            <a:ext cx="594360" cy="502920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984248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Assess relevance and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3572" y="1417320"/>
            <a:ext cx="594360" cy="502920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3572" y="1984248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Compare independent evidence 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94360" cy="502920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84248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Explain concordance and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0828" y="1417320"/>
            <a:ext cx="594360" cy="502920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0828" y="1984248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State remaining 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907792"/>
            <a:ext cx="594360" cy="502920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474720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Conclude for the decision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Weight of evidence is not a vote 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28232"/>
            <a:ext cx="9966960" cy="20116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7757D"/>
                </a:solidFill>
                <a:latin typeface="Aptos"/>
              </a:rPr>
              <a:t>Source: ECHA, Alternatives to animal testing under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predicting genotoxicity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65760"/>
            <a:ext cx="868680" cy="384048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56-58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20" y="1304828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3493008" cy="530352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Chemical structure
Existing labels
In-vitro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2544" y="1417320"/>
            <a:ext cx="3493008" cy="530352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2544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Morgan fingerprints
Similarity evidence
Neural-network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417320"/>
            <a:ext cx="3493008" cy="530352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493008" cy="3154680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82880" tIns="182880" rIns="182880" bIns="182880" anchor="ctr">
            <a:spAutoFit/>
          </a:bodyPr>
          <a:lstStyle/>
          <a:p>
            <a:pPr algn="l"/>
            <a:r>
              <a:rPr sz="1800" b="0">
                <a:solidFill>
                  <a:srgbClr val="23303A"/>
                </a:solidFill>
                <a:latin typeface="Aptos"/>
              </a:rPr>
              <a:t>Is the model applicable?
How strong is the evidence?
What additional evidence is needed?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 model output is evidence for a conclusion, not the conclusion itself.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 to Lab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326199"/>
            <a:ext cx="10972800" cy="36576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417320"/>
            <a:ext cx="594360" cy="502920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984248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Inspect and clean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3572" y="1417320"/>
            <a:ext cx="594360" cy="502920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3572" y="1945595"/>
            <a:ext cx="2086405" cy="744819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Convert SMILES to </a:t>
            </a:r>
            <a:endParaRPr lang="nl-NL" sz="1700" b="1" dirty="0">
              <a:solidFill>
                <a:srgbClr val="23303A"/>
              </a:solidFill>
              <a:latin typeface="Aptos"/>
            </a:endParaRPr>
          </a:p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molecules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94360" cy="502920"/>
          </a:xfrm>
          <a:prstGeom prst="rect">
            <a:avLst/>
          </a:prstGeom>
          <a:solidFill>
            <a:srgbClr val="E5A93F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45595"/>
            <a:ext cx="2015424" cy="744819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Calculate Morgan </a:t>
            </a:r>
            <a:endParaRPr lang="nl-NL" sz="1700" b="1" dirty="0">
              <a:solidFill>
                <a:srgbClr val="23303A"/>
              </a:solidFill>
              <a:latin typeface="Aptos"/>
            </a:endParaRPr>
          </a:p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fingerprints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0828" y="1417320"/>
            <a:ext cx="594360" cy="502920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0828" y="1945595"/>
            <a:ext cx="2036711" cy="744819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Explore structural </a:t>
            </a:r>
            <a:endParaRPr lang="nl-NL" sz="1700" b="1" dirty="0">
              <a:solidFill>
                <a:srgbClr val="23303A"/>
              </a:solidFill>
              <a:latin typeface="Aptos"/>
            </a:endParaRPr>
          </a:p>
          <a:p>
            <a:pPr algn="l"/>
            <a:r>
              <a:rPr sz="1700" b="1" dirty="0">
                <a:solidFill>
                  <a:srgbClr val="23303A"/>
                </a:solidFill>
                <a:latin typeface="Aptos"/>
              </a:rPr>
              <a:t>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907792"/>
            <a:ext cx="594360" cy="502920"/>
          </a:xfrm>
          <a:prstGeom prst="rect">
            <a:avLst/>
          </a:prstGeom>
          <a:solidFill>
            <a:srgbClr val="128C88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474720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Train a binary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3572" y="2907792"/>
            <a:ext cx="594360" cy="502920"/>
          </a:xfrm>
          <a:prstGeom prst="rect">
            <a:avLst/>
          </a:prstGeom>
          <a:solidFill>
            <a:srgbClr val="D85C4A"/>
          </a:solidFill>
          <a:ln>
            <a:noFill/>
          </a:ln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3572" y="3474720"/>
            <a:ext cx="2574036" cy="667512"/>
          </a:xfrm>
          <a:prstGeom prst="rect">
            <a:avLst/>
          </a:prstGeom>
          <a:solidFill>
            <a:srgbClr val="F2F5F5"/>
          </a:solidFill>
          <a:ln>
            <a:noFill/>
          </a:ln>
        </p:spPr>
        <p:txBody>
          <a:bodyPr wrap="none" lIns="109728" tIns="109728" rIns="109728" bIns="109728" anchor="ctr">
            <a:spAutoFit/>
          </a:bodyPr>
          <a:lstStyle/>
          <a:p>
            <a:pPr algn="l"/>
            <a:r>
              <a:rPr sz="1700" b="1">
                <a:solidFill>
                  <a:srgbClr val="23303A"/>
                </a:solidFill>
                <a:latin typeface="Aptos"/>
              </a:rPr>
              <a:t>Evaluate and interpret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23560"/>
            <a:ext cx="10744200" cy="530352"/>
          </a:xfrm>
          <a:prstGeom prst="rect">
            <a:avLst/>
          </a:prstGeom>
          <a:solidFill>
            <a:srgbClr val="23303A"/>
          </a:solidFill>
          <a:ln>
            <a:noFill/>
          </a:ln>
        </p:spPr>
        <p:txBody>
          <a:bodyPr wrap="non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Keep asking: what can this result support, and what can it not support?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409944"/>
            <a:ext cx="914400" cy="219456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7757D"/>
                </a:solidFill>
                <a:latin typeface="Aptos"/>
              </a:rPr>
              <a:t>NGRA skeleton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1435</Words>
  <Application>Microsoft Macintosh PowerPoint</Application>
  <PresentationFormat>Widescreen</PresentationFormat>
  <Paragraphs>201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Calibri Light</vt:lpstr>
      <vt:lpstr>Verdana</vt:lpstr>
      <vt:lpstr>1_Office Theme</vt:lpstr>
      <vt:lpstr>Kantoorthema</vt:lpstr>
      <vt:lpstr>Office 2013 - 2022 Theme</vt:lpstr>
      <vt:lpstr>1_Kantoorthema</vt:lpstr>
      <vt:lpstr>Simple Light</vt:lpstr>
      <vt:lpstr>Next-Generation Chemical Risk Assessment</vt:lpstr>
      <vt:lpstr>Where we are going</vt:lpstr>
      <vt:lpstr>Risk assessment starts with a decision</vt:lpstr>
      <vt:lpstr>Hazard is not the same as risk</vt:lpstr>
      <vt:lpstr>REACH provides a regulatory context</vt:lpstr>
      <vt:lpstr>Traditional chemical risk assessment</vt:lpstr>
      <vt:lpstr>Why change the evidence base?</vt:lpstr>
      <vt:lpstr>The NGRA shift</vt:lpstr>
      <vt:lpstr>A practical NGRA workflow</vt:lpstr>
      <vt:lpstr>NAMs are a toolbox, not one test</vt:lpstr>
      <vt:lpstr>AOPs organise mechanistic evidence</vt:lpstr>
      <vt:lpstr>From external exposure to internal dose</vt:lpstr>
      <vt:lpstr>Points of departure anchor dose-response</vt:lpstr>
      <vt:lpstr>Uncertainty must be made visible</vt:lpstr>
      <vt:lpstr>Evidence integration is a reasoned argument</vt:lpstr>
      <vt:lpstr>Case study: predicting genotoxicity</vt:lpstr>
      <vt:lpstr>Bridge to Lab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Teunis</dc:creator>
  <cp:lastModifiedBy>Marc Teunis</cp:lastModifiedBy>
  <cp:revision>7</cp:revision>
  <dcterms:created xsi:type="dcterms:W3CDTF">2025-02-07T09:46:15Z</dcterms:created>
  <dcterms:modified xsi:type="dcterms:W3CDTF">2026-06-27T19:10:32Z</dcterms:modified>
</cp:coreProperties>
</file>